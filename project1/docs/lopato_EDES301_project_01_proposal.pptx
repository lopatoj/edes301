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1" r:id="rId2"/>
    <p:sldId id="367" r:id="rId3"/>
    <p:sldId id="368" r:id="rId4"/>
    <p:sldId id="370" r:id="rId5"/>
    <p:sldId id="3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F240BC-FC54-D7ED-652B-A3C3819C9DCB}" v="678" dt="2026-10-05T04:36:06.606"/>
    <p1510:client id="{B4DAC681-4D3B-C498-D3D6-5FA01D28E9BA}" v="228" dt="2026-10-05T04:58:18.946"/>
    <p1510:client id="{C6B6C2E7-8E22-00D8-13DA-A9B2EDDA8162}" v="22" dt="2026-10-04T21:41:04.721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6" autoAdjust="0"/>
    <p:restoredTop sz="94706" autoAdjust="0"/>
  </p:normalViewPr>
  <p:slideViewPr>
    <p:cSldViewPr>
      <p:cViewPr varScale="1">
        <p:scale>
          <a:sx n="102" d="100"/>
          <a:sy n="102" d="100"/>
        </p:scale>
        <p:origin x="756" y="13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10/4/2026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10/4/2026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Sabrent-External-Adapter-Windows-AU-MMSA/dp/B00IRVQ0F8?th=1" TargetMode="External"/><Relationship Id="rId2" Type="http://schemas.openxmlformats.org/officeDocument/2006/relationships/hyperlink" Target="https://www.instructables.com/DIY-USB-Midi-Controller-With-Arduino-a-Beginners-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dafruit.com/product/6357" TargetMode="External"/><Relationship Id="rId2" Type="http://schemas.openxmlformats.org/officeDocument/2006/relationships/hyperlink" Target="https://www.digikey.com/en/products/detail/bourns-inc/PTA3043-2015CPB103/378119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mazon.com/Sabrent-External-Adapter-Windows-AU-MMSA/dp/B00IRVQ0F8?th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MIDI Controller Proposal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10/4/2026</a:t>
            </a:r>
          </a:p>
          <a:p>
            <a:r>
              <a:rPr lang="en-US" dirty="0">
                <a:cs typeface="Arial"/>
              </a:rPr>
              <a:t>Justin Lopato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6637283" cy="47243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74320" lvl="1" indent="0">
              <a:buNone/>
            </a:pPr>
            <a:r>
              <a:rPr lang="en-US" sz="2400" dirty="0">
                <a:cs typeface="Arial"/>
              </a:rPr>
              <a:t>A MIDI controller serves as an interface for interacting with software for playing &amp; recording music.</a:t>
            </a:r>
          </a:p>
          <a:p>
            <a:pPr marL="560070" lvl="1" indent="-285750"/>
            <a:r>
              <a:rPr lang="en-US" sz="2400" dirty="0">
                <a:cs typeface="Arial"/>
              </a:rPr>
              <a:t>They come in multiple form factors depending on the use case (turn tables for DJing, buttons for triggering samples, etc.</a:t>
            </a:r>
          </a:p>
          <a:p>
            <a:pPr marL="560070" lvl="1" indent="-285750">
              <a:buClr>
                <a:srgbClr val="276F8B"/>
              </a:buClr>
            </a:pPr>
            <a:r>
              <a:rPr lang="en-US" sz="2400" dirty="0">
                <a:cs typeface="Arial"/>
              </a:rPr>
              <a:t>Existing </a:t>
            </a:r>
            <a:r>
              <a:rPr lang="en-US" sz="2400" dirty="0">
                <a:cs typeface="Arial"/>
                <a:hlinkClick r:id="rId2"/>
              </a:rPr>
              <a:t>DIY examples exist</a:t>
            </a:r>
            <a:r>
              <a:rPr lang="en-US" sz="2400" dirty="0">
                <a:cs typeface="Arial"/>
              </a:rPr>
              <a:t>, but I want to create one like the one to the right -&gt;</a:t>
            </a:r>
          </a:p>
          <a:p>
            <a:pPr marL="560070" lvl="1" indent="-285750">
              <a:buClr>
                <a:srgbClr val="276F8B"/>
              </a:buClr>
            </a:pPr>
            <a:r>
              <a:rPr lang="en-US" sz="2400" dirty="0">
                <a:cs typeface="Arial"/>
              </a:rPr>
              <a:t>I also want to add the ability to have audio with a </a:t>
            </a:r>
            <a:r>
              <a:rPr lang="en-US" sz="2400" dirty="0">
                <a:cs typeface="Arial"/>
                <a:hlinkClick r:id="rId3"/>
              </a:rPr>
              <a:t>basic USB sound card</a:t>
            </a:r>
            <a:r>
              <a:rPr lang="en-US" sz="2400" dirty="0">
                <a:cs typeface="Arial"/>
              </a:rPr>
              <a:t> </a:t>
            </a:r>
          </a:p>
        </p:txBody>
      </p:sp>
      <p:pic>
        <p:nvPicPr>
          <p:cNvPr id="5" name="Picture 4" descr="Vestax VCI-100 Tabletop DJ MIDI Controller | Guitar Center">
            <a:extLst>
              <a:ext uri="{FF2B5EF4-FFF2-40B4-BE49-F238E27FC236}">
                <a16:creationId xmlns:a16="http://schemas.microsoft.com/office/drawing/2014/main" id="{DDDB505B-BE54-8D7A-50A8-A92FAD1F7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189" y="1386051"/>
            <a:ext cx="4085897" cy="409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93E4-AB7E-4F3D-B6C5-4ED4B78F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4B34C24-7C08-7A6D-8606-F384A6D91177}"/>
              </a:ext>
            </a:extLst>
          </p:cNvPr>
          <p:cNvSpPr/>
          <p:nvPr/>
        </p:nvSpPr>
        <p:spPr>
          <a:xfrm>
            <a:off x="3555476" y="2088420"/>
            <a:ext cx="2233526" cy="1137313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cs typeface="Arial"/>
              </a:rPr>
              <a:t>PocketBeagle</a:t>
            </a:r>
            <a:endParaRPr lang="en-US" dirty="0" err="1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D56768B-262A-02B1-047A-BAA798C26310}"/>
              </a:ext>
            </a:extLst>
          </p:cNvPr>
          <p:cNvSpPr/>
          <p:nvPr/>
        </p:nvSpPr>
        <p:spPr>
          <a:xfrm>
            <a:off x="7348417" y="1647496"/>
            <a:ext cx="2233526" cy="7957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Fader x3 (slide potentiometers)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25D8362-CC0F-E248-5516-685EEB7C151E}"/>
              </a:ext>
            </a:extLst>
          </p:cNvPr>
          <p:cNvSpPr/>
          <p:nvPr/>
        </p:nvSpPr>
        <p:spPr>
          <a:xfrm>
            <a:off x="4389756" y="4742205"/>
            <a:ext cx="2233526" cy="7274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Buttons</a:t>
            </a:r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E096162-86C4-9484-0DF6-76D771ADE365}"/>
              </a:ext>
            </a:extLst>
          </p:cNvPr>
          <p:cNvSpPr/>
          <p:nvPr/>
        </p:nvSpPr>
        <p:spPr>
          <a:xfrm>
            <a:off x="7336378" y="3601832"/>
            <a:ext cx="2233526" cy="1137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Jog wheels (rotary encoders)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F53876-D2DC-73E1-D0F3-531677CD42A2}"/>
              </a:ext>
            </a:extLst>
          </p:cNvPr>
          <p:cNvSpPr/>
          <p:nvPr/>
        </p:nvSpPr>
        <p:spPr>
          <a:xfrm>
            <a:off x="7388929" y="4852563"/>
            <a:ext cx="2233526" cy="9481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LCD Display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961BB-9E42-A433-1531-BA969CB36785}"/>
              </a:ext>
            </a:extLst>
          </p:cNvPr>
          <p:cNvSpPr/>
          <p:nvPr/>
        </p:nvSpPr>
        <p:spPr>
          <a:xfrm>
            <a:off x="7332651" y="2614447"/>
            <a:ext cx="2774808" cy="800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EQ Knobs x4 (rotary potentiometers)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D1662BCE-1D12-0AAB-B371-CFE4F7BE345D}"/>
              </a:ext>
            </a:extLst>
          </p:cNvPr>
          <p:cNvSpPr/>
          <p:nvPr/>
        </p:nvSpPr>
        <p:spPr>
          <a:xfrm>
            <a:off x="6990164" y="1897116"/>
            <a:ext cx="380645" cy="1324930"/>
          </a:xfrm>
          <a:prstGeom prst="leftBrac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298E17-F505-586F-7310-3C7FAFEBE647}"/>
              </a:ext>
            </a:extLst>
          </p:cNvPr>
          <p:cNvCxnSpPr/>
          <p:nvPr/>
        </p:nvCxnSpPr>
        <p:spPr>
          <a:xfrm flipV="1">
            <a:off x="5773294" y="2554714"/>
            <a:ext cx="1244063" cy="10235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D553A95-E6AD-EC14-DB40-3F5C57C789ED}"/>
              </a:ext>
            </a:extLst>
          </p:cNvPr>
          <p:cNvSpPr txBox="1"/>
          <p:nvPr/>
        </p:nvSpPr>
        <p:spPr>
          <a:xfrm>
            <a:off x="5861399" y="2336119"/>
            <a:ext cx="115229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cs typeface="Arial"/>
              </a:rPr>
              <a:t>Analog GPIO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9BA931-B51E-3AFD-69D4-3B199E195888}"/>
              </a:ext>
            </a:extLst>
          </p:cNvPr>
          <p:cNvCxnSpPr/>
          <p:nvPr/>
        </p:nvCxnSpPr>
        <p:spPr>
          <a:xfrm>
            <a:off x="4922450" y="3214680"/>
            <a:ext cx="4392" cy="15240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1681853-47C2-8575-F27A-2F37D5FF0E1B}"/>
              </a:ext>
            </a:extLst>
          </p:cNvPr>
          <p:cNvSpPr txBox="1"/>
          <p:nvPr/>
        </p:nvSpPr>
        <p:spPr>
          <a:xfrm>
            <a:off x="6050585" y="3712974"/>
            <a:ext cx="115229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cs typeface="Arial"/>
              </a:rPr>
              <a:t>I2C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39270F-498E-1A37-B601-A52AB104398E}"/>
              </a:ext>
            </a:extLst>
          </p:cNvPr>
          <p:cNvCxnSpPr/>
          <p:nvPr/>
        </p:nvCxnSpPr>
        <p:spPr>
          <a:xfrm>
            <a:off x="5557128" y="3224608"/>
            <a:ext cx="16628" cy="735489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2602A6-8A46-49B2-8DD4-C3C62FEBB551}"/>
              </a:ext>
            </a:extLst>
          </p:cNvPr>
          <p:cNvCxnSpPr/>
          <p:nvPr/>
        </p:nvCxnSpPr>
        <p:spPr>
          <a:xfrm flipV="1">
            <a:off x="5568525" y="3942241"/>
            <a:ext cx="1778600" cy="1137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E4E7C2A-A938-F1A1-3DB9-1DFE0016966D}"/>
              </a:ext>
            </a:extLst>
          </p:cNvPr>
          <p:cNvSpPr txBox="1"/>
          <p:nvPr/>
        </p:nvSpPr>
        <p:spPr>
          <a:xfrm>
            <a:off x="4868171" y="4306809"/>
            <a:ext cx="115229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cs typeface="Arial"/>
              </a:rPr>
              <a:t>Digital GPIO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2EA2A9-B98A-0510-CF5B-B91021583045}"/>
              </a:ext>
            </a:extLst>
          </p:cNvPr>
          <p:cNvCxnSpPr/>
          <p:nvPr/>
        </p:nvCxnSpPr>
        <p:spPr>
          <a:xfrm>
            <a:off x="7126631" y="3945826"/>
            <a:ext cx="27138" cy="1273791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045A68-29C5-46C6-D33E-94DC6E431852}"/>
              </a:ext>
            </a:extLst>
          </p:cNvPr>
          <p:cNvCxnSpPr/>
          <p:nvPr/>
        </p:nvCxnSpPr>
        <p:spPr>
          <a:xfrm>
            <a:off x="7137787" y="5220253"/>
            <a:ext cx="243227" cy="1137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0C8A70-A985-CD76-2367-317BB601AC06}"/>
              </a:ext>
            </a:extLst>
          </p:cNvPr>
          <p:cNvCxnSpPr/>
          <p:nvPr/>
        </p:nvCxnSpPr>
        <p:spPr>
          <a:xfrm flipH="1">
            <a:off x="2566023" y="2627193"/>
            <a:ext cx="962324" cy="1137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291C8A3-E807-BEBD-FF6C-A039670F89A7}"/>
              </a:ext>
            </a:extLst>
          </p:cNvPr>
          <p:cNvSpPr txBox="1"/>
          <p:nvPr/>
        </p:nvSpPr>
        <p:spPr>
          <a:xfrm>
            <a:off x="2188033" y="2299332"/>
            <a:ext cx="115229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cs typeface="Arial"/>
              </a:rPr>
              <a:t>USB to Host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8AF56A-880C-4C5E-2200-48ECB6C0FD92}"/>
              </a:ext>
            </a:extLst>
          </p:cNvPr>
          <p:cNvSpPr/>
          <p:nvPr/>
        </p:nvSpPr>
        <p:spPr>
          <a:xfrm>
            <a:off x="1814721" y="4736949"/>
            <a:ext cx="2233526" cy="7274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Sound Card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8084C1-CF01-2B88-5813-66E72722392B}"/>
              </a:ext>
            </a:extLst>
          </p:cNvPr>
          <p:cNvCxnSpPr>
            <a:cxnSpLocks/>
          </p:cNvCxnSpPr>
          <p:nvPr/>
        </p:nvCxnSpPr>
        <p:spPr>
          <a:xfrm>
            <a:off x="3813608" y="3214679"/>
            <a:ext cx="4392" cy="15240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D27E5ED-6EBA-EE1F-435F-B1AA3A01C85C}"/>
              </a:ext>
            </a:extLst>
          </p:cNvPr>
          <p:cNvSpPr txBox="1"/>
          <p:nvPr/>
        </p:nvSpPr>
        <p:spPr>
          <a:xfrm>
            <a:off x="3291619" y="3807566"/>
            <a:ext cx="115229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cs typeface="Arial"/>
              </a:rPr>
              <a:t>USB</a:t>
            </a:r>
          </a:p>
        </p:txBody>
      </p:sp>
    </p:spTree>
    <p:extLst>
      <p:ext uri="{BB962C8B-B14F-4D97-AF65-F5344CB8AC3E}">
        <p14:creationId xmlns:p14="http://schemas.microsoft.com/office/powerpoint/2010/main" val="1407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FEA3-93A8-4943-9F3A-4798FB13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Block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53D2B-E1A5-EA14-B093-744D61AEE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531" y="1256300"/>
            <a:ext cx="9338442" cy="454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1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467B-51C2-4E0B-B52A-83BD9F0E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/ Budget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B47F4B-CB02-4D02-BE84-F6BC57D0F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072409"/>
              </p:ext>
            </p:extLst>
          </p:nvPr>
        </p:nvGraphicFramePr>
        <p:xfrm>
          <a:off x="609600" y="1295400"/>
          <a:ext cx="10972800" cy="32359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837714">
                  <a:extLst>
                    <a:ext uri="{9D8B030D-6E8A-4147-A177-3AD203B41FA5}">
                      <a16:colId xmlns:a16="http://schemas.microsoft.com/office/drawing/2014/main" val="367525343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372058784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56583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EDES301</a:t>
                      </a:r>
                    </a:p>
                    <a:p>
                      <a:pPr algn="ctr"/>
                      <a:r>
                        <a:rPr lang="en-US" dirty="0"/>
                        <a:t> to Buy?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linkClick r:id="rId2"/>
                        </a:rPr>
                        <a:t>PTA3043-2015CPB103 30mm 10k Slide Potentiometer x3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rial"/>
                          <a:cs typeface="Arial"/>
                        </a:rPr>
                        <a:t>$5.79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linkClick r:id="rId2"/>
                        </a:rPr>
                        <a:t>PTA3043-2015CPB103 60mm 10k Slide Potentiometer x2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rial"/>
                          <a:cs typeface="Arial"/>
                        </a:rPr>
                        <a:t>$4.40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26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rial"/>
                          <a:cs typeface="Arial"/>
                          <a:hlinkClick r:id="rId3"/>
                        </a:rPr>
                        <a:t>AS5600 Magnetic Angle Sensor x2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rial"/>
                          <a:cs typeface="Arial"/>
                        </a:rPr>
                        <a:t>$11.9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49357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hlinkClick r:id="rId4"/>
                        </a:rPr>
                        <a:t>USB Sound Card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$8.99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683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Buttons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840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3D Printed 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356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 Segment LCD 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89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4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8529</TotalTime>
  <Words>264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Diamond Grid 16x9</vt:lpstr>
      <vt:lpstr>EDES 301  MIDI Controller Proposal</vt:lpstr>
      <vt:lpstr>Background Information</vt:lpstr>
      <vt:lpstr>System Block Diagram</vt:lpstr>
      <vt:lpstr>Power Block Diagram</vt:lpstr>
      <vt:lpstr>Components / Budget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Erik Welsh</cp:lastModifiedBy>
  <cp:revision>706</cp:revision>
  <dcterms:created xsi:type="dcterms:W3CDTF">2018-01-09T20:24:50Z</dcterms:created>
  <dcterms:modified xsi:type="dcterms:W3CDTF">2026-10-05T04:58:34Z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